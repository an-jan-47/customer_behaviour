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2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3D006B"/>
                </a:solidFill>
                <a:latin typeface="Arial"/>
              </a:defRPr>
            </a:pPr>
            <a:r>
              <a:rPr lang="en-IN" sz="1100" b="1" i="0" u="none" strike="noStrike">
                <a:solidFill>
                  <a:srgbClr val="3D006B"/>
                </a:solidFill>
                <a:latin typeface="Arial"/>
              </a:rPr>
              <a:t>Subscription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D00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F70-43A1-9780-C9F0B97C31C6}"/>
              </c:ext>
            </c:extLst>
          </c:dPt>
          <c:dPt>
            <c:idx val="1"/>
            <c:bubble3D val="0"/>
            <c:spPr>
              <a:solidFill>
                <a:srgbClr val="CC00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70-43A1-9780-C9F0B97C31C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F70-43A1-9780-C9F0B97C31C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F70-43A1-9780-C9F0B97C31C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Subscribed (Yes)</c:v>
                </c:pt>
                <c:pt idx="1">
                  <c:v>Not Subscribed (No)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26.4</c:v>
                </c:pt>
                <c:pt idx="1">
                  <c:v>73.599999999999994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F70-43A1-9780-C9F0B97C3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6666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3D006B"/>
                </a:solidFill>
                <a:latin typeface="Arial"/>
              </a:defRPr>
            </a:pPr>
            <a:r>
              <a:rPr lang="en-IN" sz="1100" b="1" i="0" u="none" strike="noStrike">
                <a:solidFill>
                  <a:srgbClr val="3D006B"/>
                </a:solidFill>
                <a:latin typeface="Arial"/>
              </a:rPr>
              <a:t>Revenue by Category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3D00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18000</c:v>
                </c:pt>
                <c:pt idx="1">
                  <c:v>12000</c:v>
                </c:pt>
                <c:pt idx="2">
                  <c:v>7000</c:v>
                </c:pt>
                <c:pt idx="3">
                  <c:v>4000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B9-4E7E-8BD8-B272AA173D4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 i="0" u="none" strike="noStrike">
                <a:solidFill>
                  <a:srgbClr val="3D006B"/>
                </a:solidFill>
                <a:latin typeface="Arial"/>
              </a:defRPr>
            </a:pPr>
            <a:r>
              <a:rPr lang="en-IN" sz="1100" b="1" i="0" u="none" strike="noStrike">
                <a:solidFill>
                  <a:srgbClr val="3D006B"/>
                </a:solidFill>
                <a:latin typeface="Arial"/>
              </a:rPr>
              <a:t>Sales by Category (Units)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CC00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294</c:v>
                </c:pt>
                <c:pt idx="1">
                  <c:v>195</c:v>
                </c:pt>
                <c:pt idx="2">
                  <c:v>122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3-4669-9D8F-48DB5B775B9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DE0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3D006B"/>
                </a:solidFill>
                <a:latin typeface="Arial"/>
              </a:defRPr>
            </a:pPr>
            <a:r>
              <a:rPr lang="en-IN" sz="1000" b="1" i="0" u="none" strike="noStrike">
                <a:solidFill>
                  <a:srgbClr val="3D006B"/>
                </a:solidFill>
                <a:latin typeface="Arial"/>
              </a:rPr>
              <a:t>Revenue by Age Group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CC00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Senior</c:v>
                </c:pt>
                <c:pt idx="1">
                  <c:v>Middle Aged</c:v>
                </c:pt>
                <c:pt idx="2">
                  <c:v>Young Adult</c:v>
                </c:pt>
                <c:pt idx="3">
                  <c:v>Adult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9400</c:v>
                </c:pt>
                <c:pt idx="1">
                  <c:v>10100</c:v>
                </c:pt>
                <c:pt idx="2">
                  <c:v>10400</c:v>
                </c:pt>
                <c:pt idx="3">
                  <c:v>10800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08-4179-924A-C256A2C183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1" i="0" u="none" strike="noStrike">
                <a:solidFill>
                  <a:srgbClr val="3D006B"/>
                </a:solidFill>
                <a:latin typeface="Arial"/>
              </a:defRPr>
            </a:pPr>
            <a:r>
              <a:rPr lang="en-US" sz="1000" b="1" i="0" u="none" strike="noStrike">
                <a:solidFill>
                  <a:srgbClr val="3D006B"/>
                </a:solidFill>
                <a:latin typeface="Arial"/>
              </a:rPr>
              <a:t>Sales by Age Group (Units)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Senior</c:v>
                </c:pt>
                <c:pt idx="1">
                  <c:v>Middle Aged</c:v>
                </c:pt>
                <c:pt idx="2">
                  <c:v>Young Adult</c:v>
                </c:pt>
                <c:pt idx="3">
                  <c:v>Adult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158</c:v>
                </c:pt>
                <c:pt idx="1">
                  <c:v>163</c:v>
                </c:pt>
                <c:pt idx="2">
                  <c:v>167</c:v>
                </c:pt>
                <c:pt idx="3">
                  <c:v>187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ED-43AF-847B-C6A818197F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48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0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6A0DAD">
              <a:alpha val="70000"/>
            </a:srgbClr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109728" cy="5143500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731520"/>
            <a:ext cx="2286000" cy="2286000"/>
          </a:xfrm>
          <a:prstGeom prst="ellipse">
            <a:avLst/>
          </a:prstGeom>
          <a:solidFill>
            <a:srgbClr val="9B30FF">
              <a:alpha val="40000"/>
            </a:srgbClr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5C0099">
              <a:alpha val="50000"/>
            </a:srgbClr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457200" y="3474720"/>
            <a:ext cx="1828800" cy="1828800"/>
          </a:xfrm>
          <a:prstGeom prst="ellipse">
            <a:avLst/>
          </a:prstGeom>
          <a:solidFill>
            <a:srgbClr val="CC0066">
              <a:alpha val="30000"/>
            </a:srgbClr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340864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0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Project Report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97880" y="1005840"/>
            <a:ext cx="2926080" cy="621792"/>
          </a:xfrm>
          <a:prstGeom prst="rect">
            <a:avLst/>
          </a:prstGeom>
          <a:solidFill>
            <a:srgbClr val="2D0050"/>
          </a:solidFill>
          <a:ln w="6350">
            <a:solidFill>
              <a:srgbClr val="9B3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0424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89320" y="12435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1810512"/>
            <a:ext cx="2926080" cy="621792"/>
          </a:xfrm>
          <a:prstGeom prst="rect">
            <a:avLst/>
          </a:prstGeom>
          <a:solidFill>
            <a:srgbClr val="2D0050"/>
          </a:solidFill>
          <a:ln w="6350">
            <a:solidFill>
              <a:srgbClr val="9B3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8470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989320" y="2048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/ E-Commerce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97880" y="2615184"/>
            <a:ext cx="2926080" cy="621792"/>
          </a:xfrm>
          <a:prstGeom prst="rect">
            <a:avLst/>
          </a:prstGeom>
          <a:solidFill>
            <a:srgbClr val="2D0050"/>
          </a:solidFill>
          <a:ln w="6350">
            <a:solidFill>
              <a:srgbClr val="9B3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651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989320" y="28529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 Customers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97880" y="3419856"/>
            <a:ext cx="2926080" cy="621792"/>
          </a:xfrm>
          <a:prstGeom prst="rect">
            <a:avLst/>
          </a:prstGeom>
          <a:solidFill>
            <a:srgbClr val="2D0050"/>
          </a:solidFill>
          <a:ln w="6350">
            <a:solidFill>
              <a:srgbClr val="9B3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4564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9893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0035"/>
          </a:solidFill>
          <a:ln w="12700">
            <a:solidFill>
              <a:srgbClr val="1A0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55464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9B6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BUSINESS INTELLIGENCE  ·  RETAIL INSIGHTS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overview of the Customer Behaviour Dashboard findings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09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DASHBOARD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 |  Data Analytics Team  |  March 2025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0" y="4901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987552"/>
            <a:ext cx="1965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987552"/>
            <a:ext cx="196596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1078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6032" y="1645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23160" y="987552"/>
            <a:ext cx="1965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23160" y="987552"/>
            <a:ext cx="196596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1078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$60.41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423160" y="1645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Amount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90288" y="987552"/>
            <a:ext cx="1965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90288" y="987552"/>
            <a:ext cx="196596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0288" y="1078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3.72 / 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590288" y="1645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57416" y="987552"/>
            <a:ext cx="1965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57416" y="987552"/>
            <a:ext cx="196596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57416" y="107899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757416" y="16459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Rate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176272"/>
            <a:ext cx="8631936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176272"/>
            <a:ext cx="64008" cy="96012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212848"/>
            <a:ext cx="8321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dashboard analyses 675 customer records across demographics, product categories, subscription behaviour, and shipping preferences. With an average spend of $60.41 and a review rating of 3.72/5, the data reveals a healthy mid-market customer base with significant growth potential in subscription conversion and category-specific marketing.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291840"/>
            <a:ext cx="2743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8DA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291840"/>
            <a:ext cx="438912" cy="658368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291840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8952" y="333756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58952" y="35844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behaviour by gender &amp; age group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63824" y="3291840"/>
            <a:ext cx="2743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8DA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63824" y="3291840"/>
            <a:ext cx="438912" cy="658368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63824" y="3291840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66744" y="333756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Sales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66744" y="35844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product categories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71616" y="3291840"/>
            <a:ext cx="2743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8DA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071616" y="3291840"/>
            <a:ext cx="438912" cy="658368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71616" y="3291840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74536" y="333756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574536" y="358444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subscription rates &amp; conversion potential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56032" y="4069080"/>
            <a:ext cx="2743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8DA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56032" y="4069080"/>
            <a:ext cx="438912" cy="658368"/>
          </a:xfrm>
          <a:prstGeom prst="rect">
            <a:avLst/>
          </a:prstGeom>
          <a:solidFill>
            <a:srgbClr val="6A0DAD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" y="4069080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58952" y="411480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58952" y="43616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fulfilment preferences &amp; logistics impact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163824" y="4069080"/>
            <a:ext cx="27432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E8DA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163824" y="4069080"/>
            <a:ext cx="438912" cy="658368"/>
          </a:xfrm>
          <a:prstGeom prst="rect">
            <a:avLst/>
          </a:prstGeom>
          <a:solidFill>
            <a:srgbClr val="6A0DAD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163824" y="4069080"/>
            <a:ext cx="438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666744" y="411480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666744" y="4361688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dynamic filtering for granular BI queries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pipeline, architecture, and dashboard design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09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DASHBOARD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 |  Data Analytics Team  |  March 2025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0" y="4901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960120"/>
            <a:ext cx="4160520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960120"/>
            <a:ext cx="4160520" cy="402336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9784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PIPELINE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1463040"/>
            <a:ext cx="320040" cy="320040"/>
          </a:xfrm>
          <a:prstGeom prst="ellipse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" y="14630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66544" y="14630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transactional CSV loaded via Power Query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1965960"/>
            <a:ext cx="320040" cy="320040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4672" y="196596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66544" y="196596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removal, duplicate elimination, outlier handling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2468880"/>
            <a:ext cx="320040" cy="320040"/>
          </a:xfrm>
          <a:prstGeom prst="ellipse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" y="24688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66544" y="24688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numeric, and categorical field standardisation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" y="2971800"/>
            <a:ext cx="320040" cy="320040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" y="29718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66544" y="29718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bins: Senior, Middle Aged, Young Adult, Adult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4048" y="3474720"/>
            <a:ext cx="320040" cy="320040"/>
          </a:xfrm>
          <a:prstGeom prst="ellipse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474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" y="34747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66544" y="347472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mapping to 4 core product groups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4048" y="3977640"/>
            <a:ext cx="320040" cy="320040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" y="39776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066544" y="397764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Spend, Rating, Subscription %, Revenue aggregates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960120"/>
            <a:ext cx="4224528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DD0EE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960120"/>
            <a:ext cx="4224528" cy="402336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9784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ARCHITECTURE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63440" y="1463040"/>
            <a:ext cx="4224528" cy="438912"/>
          </a:xfrm>
          <a:prstGeom prst="rect">
            <a:avLst/>
          </a:prstGeom>
          <a:solidFill>
            <a:srgbClr val="F5F0FC"/>
          </a:solidFill>
          <a:ln w="6350">
            <a:solidFill>
              <a:srgbClr val="EEE0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1517904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897880" y="151790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(M)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223760" y="15179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transformation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663440" y="1965960"/>
            <a:ext cx="42245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0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2020824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897880" y="202082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223760" y="20208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performance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663440" y="2468880"/>
            <a:ext cx="4224528" cy="438912"/>
          </a:xfrm>
          <a:prstGeom prst="rect">
            <a:avLst/>
          </a:prstGeom>
          <a:solidFill>
            <a:srgbClr val="F5F0FC"/>
          </a:solidFill>
          <a:ln w="6350">
            <a:solidFill>
              <a:srgbClr val="EEE0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2523744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Layer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897880" y="252374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Expressions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23760" y="25237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aggregations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663440" y="2971800"/>
            <a:ext cx="42245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0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3026664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Layer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897880" y="302666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223760" y="302666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cards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663440" y="3474720"/>
            <a:ext cx="4224528" cy="438912"/>
          </a:xfrm>
          <a:prstGeom prst="rect">
            <a:avLst/>
          </a:prstGeom>
          <a:solidFill>
            <a:srgbClr val="F5F0FC"/>
          </a:solidFill>
          <a:ln w="6350">
            <a:solidFill>
              <a:srgbClr val="EEE0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3529584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897880" y="352958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Cross-filter/Slicers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223760" y="352958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exploration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663440" y="3977640"/>
            <a:ext cx="422452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EE0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36592" y="4032504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5897880" y="4032504"/>
            <a:ext cx="1298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C0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Slicer Controls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223760" y="4032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Category, Ship, Sub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Visuals &amp; Data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breakdown, category revenue, sales, and age group performance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09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DASHBOARD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 |  Data Analytics Team  |  March 2025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0" y="4901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8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256032" y="960120"/>
          <a:ext cx="28346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"/>
          <p:cNvGraphicFramePr/>
          <p:nvPr/>
        </p:nvGraphicFramePr>
        <p:xfrm>
          <a:off x="3246120" y="960120"/>
          <a:ext cx="28346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2"/>
          <p:cNvGraphicFramePr/>
          <p:nvPr/>
        </p:nvGraphicFramePr>
        <p:xfrm>
          <a:off x="6217920" y="960120"/>
          <a:ext cx="27432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3"/>
          <p:cNvGraphicFramePr/>
          <p:nvPr/>
        </p:nvGraphicFramePr>
        <p:xfrm>
          <a:off x="256032" y="3337560"/>
          <a:ext cx="4224528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4" name="Chart 4"/>
          <p:cNvGraphicFramePr/>
          <p:nvPr/>
        </p:nvGraphicFramePr>
        <p:xfrm>
          <a:off x="4663440" y="3337560"/>
          <a:ext cx="4224528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conclusions from the dashboard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09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DASHBOARD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 |  Data Analytics Team  |  March 2025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0" y="4901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1005840"/>
            <a:ext cx="416052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005840"/>
            <a:ext cx="4160520" cy="402336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0332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Customer Base &amp; Spend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481328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 customers with avg spend of $60.41 — solid mid-market positioning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 of 3.72/5 shows positive sentiment with room to improve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demographic appeal across all age groups and genders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1005840"/>
            <a:ext cx="416052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005840"/>
            <a:ext cx="4160520" cy="402336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3327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Category Performance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481328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 revenue ($18K) and volume (294 units — 43.5% of total)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significantly underperforms at $4K — prime for promotional focus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show strong value: high revenue relative to unit count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2926080"/>
            <a:ext cx="416052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926080"/>
            <a:ext cx="4160520" cy="402336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535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Subscription Opportunity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3401568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26.4% are subscribers — 73.6% untapped conversion opportunity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campaigns to non-subscribers could drive recurring revenue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segment warrants deeper spend differential analysis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2926080"/>
            <a:ext cx="4160520" cy="1755648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926080"/>
            <a:ext cx="4160520" cy="402336"/>
          </a:xfrm>
          <a:prstGeom prst="rect">
            <a:avLst/>
          </a:prstGeom>
          <a:solidFill>
            <a:srgbClr val="E8007A"/>
          </a:solidFill>
          <a:ln w="12700">
            <a:solidFill>
              <a:srgbClr val="E80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5351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Age Group &amp; Shipping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3401568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generate highest revenue ($10.8K) and unit sales (187 units)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segment ($9.4K revenue) is loyal and should not be overlooked</a:t>
            </a:r>
            <a:endParaRPr lang="en-US" sz="950" dirty="0"/>
          </a:p>
          <a:p>
            <a:pPr marL="152400" indent="-152400">
              <a:buSzPct val="100000"/>
              <a:buChar char="•"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dominates — logistics cost strategy must be reviewed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64008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0AA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action plan to drive growth and improve customer experience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097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5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DASHBOARD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B09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 |  Data Analytics Team  |  March 2025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772400" y="49011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" y="987552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987552"/>
            <a:ext cx="475488" cy="1234440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987552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66744" y="1078992"/>
            <a:ext cx="658368" cy="256032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66744" y="10789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22960" y="106984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Growth Campaign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1380744"/>
            <a:ext cx="3465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73.6% non-subscriber base via email &amp; in-app promotions — free trials, loyalty rewards, and exclusive discounts. Focus on Adults &amp; Young Adults.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690872" y="987552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90872" y="987552"/>
            <a:ext cx="475488" cy="123444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90872" y="987552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01584" y="1078992"/>
            <a:ext cx="658368" cy="256032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1584" y="10789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257800" y="106984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 Improvement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57800" y="1380744"/>
            <a:ext cx="3465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feedback loops targeting sub-3.5 raters. Introduce CSAT scoring and proactive support interventions to raise the 3.72 average.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56032" y="2359152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359152"/>
            <a:ext cx="475488" cy="12344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359152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66744" y="2450592"/>
            <a:ext cx="658368" cy="256032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66744" y="2450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22960" y="244144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Category Boost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2960" y="2752344"/>
            <a:ext cx="3465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promotions, cross-category bundling with Accessories, and A/B-tested messaging to lift the lowest-performing category ($4K revenue).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4690872" y="2359152"/>
            <a:ext cx="416052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90872" y="2359152"/>
            <a:ext cx="475488" cy="1234440"/>
          </a:xfrm>
          <a:prstGeom prst="rect">
            <a:avLst/>
          </a:prstGeom>
          <a:solidFill>
            <a:srgbClr val="E8007A"/>
          </a:solidFill>
          <a:ln w="12700">
            <a:solidFill>
              <a:srgbClr val="E800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2359152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1584" y="2450592"/>
            <a:ext cx="658368" cy="256032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01584" y="24505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257800" y="244144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Shipping Incentives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57800" y="2752344"/>
            <a:ext cx="3465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basket size of Express &amp; Next Day Air users. Targeted premium shipping promotions can shift Free Shipping customers to paid tiers.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56032" y="373075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3730752"/>
            <a:ext cx="475488" cy="1097280"/>
          </a:xfrm>
          <a:prstGeom prst="rect">
            <a:avLst/>
          </a:prstGeom>
          <a:solidFill>
            <a:srgbClr val="9B30FF"/>
          </a:solidFill>
          <a:ln w="12700">
            <a:solidFill>
              <a:srgbClr val="9B30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3730752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666744" y="3822192"/>
            <a:ext cx="658368" cy="256032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66744" y="38221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822960" y="381304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Loyalty Programme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22960" y="4123944"/>
            <a:ext cx="3465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communications and UX for the Senior segment ($9.4K revenue). A dedicated loyalty scheme can improve retention and lifetime value.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4690872" y="3730752"/>
            <a:ext cx="41605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0D0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90872" y="3730752"/>
            <a:ext cx="475488" cy="109728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3730752"/>
            <a:ext cx="47548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01584" y="3822192"/>
            <a:ext cx="658368" cy="256032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01584" y="382219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257800" y="381304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Enhancement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57800" y="4123944"/>
            <a:ext cx="346557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8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time-series trends, CLV metrics, geographic heatmaps, and predictive churn indicators. Integrate CRM data for a 360° customer view.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00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9F3FF"/>
          </a:solidFill>
          <a:ln w="12700">
            <a:solidFill>
              <a:srgbClr val="F9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54864" cy="5143500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9B30FF">
              <a:alpha val="30000"/>
            </a:srgbClr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3657600"/>
            <a:ext cx="2743200" cy="2743200"/>
          </a:xfrm>
          <a:prstGeom prst="ellipse">
            <a:avLst/>
          </a:prstGeom>
          <a:solidFill>
            <a:srgbClr val="CC0066">
              <a:alpha val="20000"/>
            </a:srgbClr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3200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877824"/>
            <a:ext cx="4389120" cy="45720"/>
          </a:xfrm>
          <a:prstGeom prst="rect">
            <a:avLst/>
          </a:prstGeom>
          <a:solidFill>
            <a:srgbClr val="CC0066"/>
          </a:solidFill>
          <a:ln w="12700">
            <a:solidFill>
              <a:srgbClr val="CC0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4343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Behaviour Dashboard delivers a powerful, interactive analytics experience — transforming raw transactional data into clear, actionable insight.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Clothing dominates revenue, subscription conversion is the biggest growth lever, and the customer base is broadly engaged across all demographics.</a:t>
            </a: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endParaRPr lang="en-US" sz="1100" dirty="0"/>
          </a:p>
          <a:p>
            <a:pPr marL="0" indent="0" algn="l">
              <a:lnSpc>
                <a:spcPct val="140000"/>
              </a:lnSpc>
              <a:buNone/>
            </a:pPr>
            <a:r>
              <a:rPr lang="en-US" sz="1100" dirty="0">
                <a:solidFill>
                  <a:srgbClr val="E0C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 — predictive analytics, CLV modelling, and CRM integration — will further elevate the platform's strategic value.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5029200" cy="297180"/>
          </a:xfrm>
          <a:prstGeom prst="rect">
            <a:avLst/>
          </a:prstGeom>
          <a:solidFill>
            <a:srgbClr val="1A0035"/>
          </a:solidFill>
          <a:ln w="12700">
            <a:solidFill>
              <a:srgbClr val="1A0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737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B6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Analytics  ·  Data Analytics Team  ·  March 2025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166360" y="228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SPECIFICATIONS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0" y="749808"/>
            <a:ext cx="3794760" cy="457200"/>
          </a:xfrm>
          <a:prstGeom prst="rect">
            <a:avLst/>
          </a:prstGeom>
          <a:solidFill>
            <a:srgbClr val="F0E8FC"/>
          </a:solidFill>
          <a:ln w="6350">
            <a:solidFill>
              <a:srgbClr val="E0D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0368" y="80467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29400" y="8046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Desktop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20640" y="1271016"/>
            <a:ext cx="3794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0368" y="132588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29400" y="132588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16:9 — Full Interactive Dashboard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20640" y="1792224"/>
            <a:ext cx="3794760" cy="457200"/>
          </a:xfrm>
          <a:prstGeom prst="rect">
            <a:avLst/>
          </a:prstGeom>
          <a:solidFill>
            <a:srgbClr val="F0E8FC"/>
          </a:solidFill>
          <a:ln w="6350">
            <a:solidFill>
              <a:srgbClr val="E0D0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0368" y="184708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29400" y="18470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 Customer Records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20640" y="2313432"/>
            <a:ext cx="3794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0368" y="23682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29400" y="236829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(Fact + 4 Dims)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120640" y="2834640"/>
            <a:ext cx="3794760" cy="457200"/>
          </a:xfrm>
          <a:prstGeom prst="rect">
            <a:avLst/>
          </a:prstGeom>
          <a:solidFill>
            <a:srgbClr val="F0E8FC"/>
          </a:solidFill>
          <a:ln w="6350">
            <a:solidFill>
              <a:srgbClr val="E0D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0368" y="288950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29400" y="28895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Spend, Rating, Subscription %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120640" y="3355848"/>
            <a:ext cx="3794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341071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29400" y="341071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Bar/Donut Charts, Slicers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120640" y="3877056"/>
            <a:ext cx="3794760" cy="457200"/>
          </a:xfrm>
          <a:prstGeom prst="rect">
            <a:avLst/>
          </a:prstGeom>
          <a:solidFill>
            <a:srgbClr val="F0E8FC"/>
          </a:solidFill>
          <a:ln w="6350">
            <a:solidFill>
              <a:srgbClr val="E0D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0368" y="393192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Controls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629400" y="3931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Interactive Slicers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20640" y="4398264"/>
            <a:ext cx="3794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D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445312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D0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Theme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29400" y="4453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Purple-Pink Corporate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0" y="4846320"/>
            <a:ext cx="4114800" cy="297180"/>
          </a:xfrm>
          <a:prstGeom prst="rect">
            <a:avLst/>
          </a:prstGeom>
          <a:solidFill>
            <a:srgbClr val="3D006B"/>
          </a:solidFill>
          <a:ln w="12700">
            <a:solidFill>
              <a:srgbClr val="3D00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48737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9A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 ·  DAX  ·  Star Schema  ·  Data Visualisation  ·  Business Intelligence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913</Words>
  <Application>Microsoft Office PowerPoint</Application>
  <PresentationFormat>On-screen Show (16:9)</PresentationFormat>
  <Paragraphs>179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Behaviour Dashboard – Power BI Report</dc:title>
  <dc:subject>PptxGenJS Presentation</dc:subject>
  <dc:creator>Data Analytics Team</dc:creator>
  <cp:lastModifiedBy>Anjan kumar</cp:lastModifiedBy>
  <cp:revision>2</cp:revision>
  <dcterms:created xsi:type="dcterms:W3CDTF">2026-03-31T08:44:53Z</dcterms:created>
  <dcterms:modified xsi:type="dcterms:W3CDTF">2026-03-31T08:54:49Z</dcterms:modified>
</cp:coreProperties>
</file>